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7" r:id="rId7"/>
    <p:sldId id="288" r:id="rId8"/>
    <p:sldId id="290" r:id="rId9"/>
    <p:sldId id="289" r:id="rId10"/>
    <p:sldId id="291" r:id="rId11"/>
    <p:sldId id="262"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9812F-BA68-41E9-B784-BC462557689F}" v="70" dt="2026-06-03T15:54:08.662"/>
    <p1510:client id="{240BE009-8042-4105-80F0-4A9EC41EC763}" v="19" dt="2026-06-04T15:00:50.718"/>
    <p1510:client id="{561FB9A9-7484-467E-A1E5-4736B6E18B4D}" v="422" dt="2026-06-04T22:25:18.064"/>
    <p1510:client id="{9AA5B38A-7D76-4A7A-88B7-E229790292B1}" v="289" dt="2026-06-04T14:38:48.289"/>
    <p1510:client id="{C82810AA-303F-4687-B061-4EDB1BDF0796}" v="1" dt="2026-06-03T15:48:07.28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15170258"/>
              </p:ext>
            </p:extLst>
          </p:nvPr>
        </p:nvGraphicFramePr>
        <p:xfrm>
          <a:off x="1299257" y="2600315"/>
          <a:ext cx="9394989" cy="234484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p>
                      <a:pPr marL="0" marR="0" lvl="0" indent="0" algn="l">
                        <a:spcBef>
                          <a:spcPts val="0"/>
                        </a:spcBef>
                        <a:spcAft>
                          <a:spcPts val="0"/>
                        </a:spcAft>
                        <a:buNone/>
                      </a:pPr>
                      <a:endParaRPr lang="en-US" dirty="0"/>
                    </a:p>
                    <a:p>
                      <a:pPr marL="0" marR="0" lvl="0" indent="0" algn="l">
                        <a:spcBef>
                          <a:spcPts val="0"/>
                        </a:spcBef>
                        <a:spcAft>
                          <a:spcPts val="0"/>
                        </a:spcAft>
                        <a:buNone/>
                      </a:pPr>
                      <a:r>
                        <a:rPr lang="en-US"/>
                        <a:t>Babita Patel</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p>
                      <a:pPr marL="0" marR="0" lvl="0" indent="0" algn="l">
                        <a:spcBef>
                          <a:spcPts val="0"/>
                        </a:spcBef>
                        <a:spcAft>
                          <a:spcPts val="0"/>
                        </a:spcAft>
                        <a:buNone/>
                      </a:pPr>
                      <a:endParaRPr lang="en-US" dirty="0"/>
                    </a:p>
                    <a:p>
                      <a:pPr marL="0" marR="0" lvl="0" indent="0" algn="l">
                        <a:spcBef>
                          <a:spcPts val="0"/>
                        </a:spcBef>
                        <a:spcAft>
                          <a:spcPts val="0"/>
                        </a:spcAft>
                        <a:buNone/>
                      </a:pPr>
                      <a:r>
                        <a:rPr lang="en-US"/>
                        <a:t>babita1234qwer@gmail.com</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p>
                      <a:pPr marL="0" marR="0" lvl="0" indent="0" algn="l">
                        <a:spcBef>
                          <a:spcPts val="0"/>
                        </a:spcBef>
                        <a:spcAft>
                          <a:spcPts val="0"/>
                        </a:spcAft>
                        <a:buNone/>
                      </a:pPr>
                      <a:endParaRPr lang="en-US" dirty="0"/>
                    </a:p>
                    <a:p>
                      <a:pPr marL="0" marR="0" lvl="0" indent="0" algn="l">
                        <a:spcBef>
                          <a:spcPts val="0"/>
                        </a:spcBef>
                        <a:spcAft>
                          <a:spcPts val="0"/>
                        </a:spcAft>
                        <a:buNone/>
                      </a:pPr>
                      <a:r>
                        <a:rPr lang="en-US"/>
                        <a:t>Other mobile no-7307882459</a:t>
                      </a:r>
                    </a:p>
                    <a:p>
                      <a:pPr marL="0" marR="0" lvl="0" indent="0" algn="l">
                        <a:spcBef>
                          <a:spcPts val="0"/>
                        </a:spcBef>
                        <a:spcAft>
                          <a:spcPts val="0"/>
                        </a:spcAft>
                        <a:buNone/>
                      </a:pPr>
                      <a:r>
                        <a:rPr lang="en-US"/>
                        <a:t>Watsappnumber-9044176557</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lIns="91440" tIns="45720" rIns="91440" bIns="45720" rtlCol="0" anchor="t">
            <a:spAutoFit/>
          </a:bodyPr>
          <a:lstStyle/>
          <a:p>
            <a:r>
              <a:rPr lang="en-US" sz="2400" b="1"/>
              <a:t>Project Title – </a:t>
            </a:r>
            <a:r>
              <a:rPr lang="en-US" sz="2400" b="1">
                <a:highlight>
                  <a:srgbClr val="FFFF00"/>
                </a:highlight>
              </a:rPr>
              <a:t>[</a:t>
            </a:r>
            <a:r>
              <a:rPr lang="en-US" sz="1800" b="1">
                <a:highlight>
                  <a:srgbClr val="FFFF00"/>
                </a:highlight>
              </a:rPr>
              <a:t>Power System Fault Detection and Classification</a:t>
            </a:r>
            <a:r>
              <a:rPr lang="en-US" sz="2400" b="1" dirty="0">
                <a:highlight>
                  <a:srgbClr val="FFFF00"/>
                </a:highlight>
              </a:rPr>
              <a:t>]</a:t>
            </a:r>
            <a:endParaRPr lang="en-IN" sz="2400" b="1" dirty="0">
              <a:highlight>
                <a:srgbClr val="FFFF00"/>
              </a:highlight>
            </a:endParaRPr>
          </a:p>
        </p:txBody>
      </p:sp>
      <p:pic>
        <p:nvPicPr>
          <p:cNvPr id="2" name="Picture 1" descr="A person wearing a red and black plaid shirt&#10;&#10;AI-generated content may be incorrect.">
            <a:extLst>
              <a:ext uri="{FF2B5EF4-FFF2-40B4-BE49-F238E27FC236}">
                <a16:creationId xmlns:a16="http://schemas.microsoft.com/office/drawing/2014/main" id="{434F55F3-DD41-2A4D-378E-F042AA2FD861}"/>
              </a:ext>
            </a:extLst>
          </p:cNvPr>
          <p:cNvPicPr>
            <a:picLocks noChangeAspect="1"/>
          </p:cNvPicPr>
          <p:nvPr/>
        </p:nvPicPr>
        <p:blipFill>
          <a:blip r:embed="rId3"/>
          <a:stretch>
            <a:fillRect/>
          </a:stretch>
        </p:blipFill>
        <p:spPr>
          <a:xfrm>
            <a:off x="3993388" y="3685458"/>
            <a:ext cx="1105031" cy="948456"/>
          </a:xfrm>
          <a:prstGeom prst="rect">
            <a:avLst/>
          </a:prstGeom>
        </p:spPr>
      </p:pic>
      <p:sp>
        <p:nvSpPr>
          <p:cNvPr id="3" name="TextBox 2">
            <a:extLst>
              <a:ext uri="{FF2B5EF4-FFF2-40B4-BE49-F238E27FC236}">
                <a16:creationId xmlns:a16="http://schemas.microsoft.com/office/drawing/2014/main" id="{6615DA08-10B8-2AED-D4E7-15601BB0672F}"/>
              </a:ext>
            </a:extLst>
          </p:cNvPr>
          <p:cNvSpPr txBox="1"/>
          <p:nvPr/>
        </p:nvSpPr>
        <p:spPr>
          <a:xfrm>
            <a:off x="1294356" y="1372644"/>
            <a:ext cx="7880958"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Domain of the project-    </a:t>
            </a:r>
            <a:r>
              <a:rPr lang="en-US" sz="1600" b="1"/>
              <a:t>Electrical Engineering</a:t>
            </a:r>
            <a:endParaRPr lang="en-US" sz="1600" b="1" dirty="0"/>
          </a:p>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82127" y="1714604"/>
            <a:ext cx="10607040" cy="4278094"/>
          </a:xfrm>
          <a:prstGeom prst="rect">
            <a:avLst/>
          </a:prstGeom>
          <a:noFill/>
        </p:spPr>
        <p:txBody>
          <a:bodyPr wrap="square" lIns="91440" tIns="45720" rIns="91440" bIns="45720" rtlCol="0" anchor="t">
            <a:spAutoFit/>
          </a:bodyPr>
          <a:lstStyle/>
          <a:p>
            <a:pPr fontAlgn="base"/>
            <a:r>
              <a:rPr lang="en-US" sz="1800" b="1" dirty="0"/>
              <a:t>Problem Statement : Power </a:t>
            </a:r>
            <a:r>
              <a:rPr lang="en-US" sz="1800" b="1"/>
              <a:t>Syste</a:t>
            </a:r>
            <a:r>
              <a:rPr lang="en-US" sz="1800" b="1" dirty="0"/>
              <a:t>m Fault Detection and Classifi</a:t>
            </a:r>
            <a:r>
              <a:rPr lang="en-US" sz="1800" b="1"/>
              <a:t>cation</a:t>
            </a:r>
            <a:endParaRPr lang="en-US" sz="1800"/>
          </a:p>
          <a:p>
            <a:pPr fontAlgn="base"/>
            <a:endParaRPr lang="en-US" b="1" dirty="0"/>
          </a:p>
          <a:p>
            <a:pPr fontAlgn="base"/>
            <a:r>
              <a:rPr lang="en-US" sz="1800" b="1" dirty="0"/>
              <a:t>The Challenge</a:t>
            </a:r>
            <a:r>
              <a:rPr lang="en-US" sz="1800" dirty="0"/>
              <a:t> </a:t>
            </a:r>
          </a:p>
          <a:p>
            <a:r>
              <a:rPr lang="en-US" sz="1600" dirty="0"/>
              <a:t>Design a machine learning model to detect and classify different types of faults in a power distribution system. Using electrical measurement data (e.g., voltage and current phasors), the model should be able to distinguish between normal operating conditions and various fault conditions (such as line-to-ground, line-to-line, or three-phase faults). </a:t>
            </a:r>
          </a:p>
          <a:p>
            <a:pPr fontAlgn="base"/>
            <a:endParaRPr lang="en-US" sz="1800" dirty="0"/>
          </a:p>
          <a:p>
            <a:pPr fontAlgn="base"/>
            <a:r>
              <a:rPr lang="en-US" sz="1800" b="1" dirty="0"/>
              <a:t>The Objective</a:t>
            </a:r>
            <a:r>
              <a:rPr lang="en-US" sz="1800" dirty="0"/>
              <a:t> </a:t>
            </a:r>
          </a:p>
          <a:p>
            <a:pPr marL="285750" indent="-285750" fontAlgn="base">
              <a:buChar char="•"/>
            </a:pPr>
            <a:r>
              <a:rPr lang="en-US" sz="1600"/>
              <a:t>. Detect faults in power distribution systems using machine learning techniques.</a:t>
            </a:r>
            <a:endParaRPr lang="en-US" sz="1600" dirty="0"/>
          </a:p>
          <a:p>
            <a:pPr marL="285750" indent="-285750">
              <a:buChar char="•"/>
            </a:pPr>
            <a:r>
              <a:rPr lang="en-US" sz="1600"/>
              <a:t>Classify fault types  based on voltage and current measurements.</a:t>
            </a:r>
            <a:endParaRPr lang="en-US" sz="1600" dirty="0"/>
          </a:p>
          <a:p>
            <a:pPr marL="285750" indent="-285750">
              <a:buChar char="•"/>
            </a:pPr>
            <a:r>
              <a:rPr lang="en-US" sz="1600"/>
              <a:t>Distinguish normal and faulty operating conditions accurately.</a:t>
            </a:r>
            <a:endParaRPr lang="en-US" sz="1600" dirty="0"/>
          </a:p>
          <a:p>
            <a:pPr marL="285750" indent="-285750">
              <a:buChar char="•"/>
            </a:pPr>
            <a:r>
              <a:rPr lang="en-US" sz="1600"/>
              <a:t>Reduce fault detection time and improve grid reliability.</a:t>
            </a:r>
            <a:endParaRPr lang="en-US" sz="1600" dirty="0"/>
          </a:p>
          <a:p>
            <a:pPr marL="285750" indent="-285750">
              <a:buChar char="•"/>
            </a:pPr>
            <a:r>
              <a:rPr lang="en-US" sz="1600" dirty="0"/>
              <a:t>Assist in maintaining power system stability through automated fault identification.</a:t>
            </a:r>
          </a:p>
          <a:p>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57074" y="1165753"/>
            <a:ext cx="10607040" cy="3139321"/>
          </a:xfrm>
          <a:prstGeom prst="rect">
            <a:avLst/>
          </a:prstGeom>
          <a:noFill/>
        </p:spPr>
        <p:txBody>
          <a:bodyPr wrap="square" lIns="91440" tIns="45720" rIns="91440" bIns="45720" rtlCol="0" anchor="t">
            <a:spAutoFit/>
          </a:bodyPr>
          <a:lstStyle/>
          <a:p>
            <a:endParaRPr lang="en-US" b="1" dirty="0"/>
          </a:p>
          <a:p>
            <a:endParaRPr lang="en-US" sz="2000" dirty="0"/>
          </a:p>
          <a:p>
            <a:r>
              <a:rPr lang="en-US" sz="2000"/>
              <a:t>1.IBM watsonx.ai Lite</a:t>
            </a:r>
            <a:endParaRPr lang="en-US" sz="2000" dirty="0"/>
          </a:p>
          <a:p>
            <a:r>
              <a:rPr lang="en-US" sz="2000" dirty="0"/>
              <a:t>2. Algorithms-Random </a:t>
            </a:r>
            <a:r>
              <a:rPr lang="en-US" sz="2000" dirty="0" err="1"/>
              <a:t>forest,Logistic</a:t>
            </a:r>
            <a:r>
              <a:rPr lang="en-US" sz="2000" dirty="0"/>
              <a:t> </a:t>
            </a:r>
            <a:r>
              <a:rPr lang="en-US" sz="2000" dirty="0" err="1"/>
              <a:t>regressio</a:t>
            </a:r>
            <a:r>
              <a:rPr lang="en-US" sz="2000" dirty="0"/>
              <a:t>n</a:t>
            </a:r>
          </a:p>
          <a:p>
            <a:r>
              <a:rPr lang="en-US" sz="2000"/>
              <a:t>3. IBM Cloud</a:t>
            </a:r>
            <a:endParaRPr lang="en-US" sz="2000" dirty="0"/>
          </a:p>
          <a:p>
            <a:r>
              <a:rPr lang="en-US" sz="2000"/>
              <a:t>4.Power Distribution Fault Dataset</a:t>
            </a:r>
          </a:p>
          <a:p>
            <a:endParaRPr lang="en-US" b="1"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4" name="TextBox 3">
            <a:extLst>
              <a:ext uri="{FF2B5EF4-FFF2-40B4-BE49-F238E27FC236}">
                <a16:creationId xmlns:a16="http://schemas.microsoft.com/office/drawing/2014/main" id="{95229DBA-A326-0F39-525D-B3CCE32BD8FD}"/>
              </a:ext>
            </a:extLst>
          </p:cNvPr>
          <p:cNvSpPr txBox="1"/>
          <p:nvPr/>
        </p:nvSpPr>
        <p:spPr>
          <a:xfrm>
            <a:off x="574110" y="1174314"/>
            <a:ext cx="8872602" cy="57861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p>
          <a:p>
            <a:r>
              <a:rPr lang="en-US" sz="1800" dirty="0"/>
              <a:t>The proposed solution is an AI-based fault detection and classification system developed using IBM watsonx.ai. The system analyzes electrical measurement data such as voltage and current values from a power distribution network to identify abnormal operating conditions.</a:t>
            </a:r>
          </a:p>
          <a:p>
            <a:endParaRPr lang="en-US" sz="1800" dirty="0"/>
          </a:p>
          <a:p>
            <a:r>
              <a:rPr lang="en-US" sz="1800" dirty="0"/>
              <a:t>The AI model is trained to distinguish between normal operating conditions and different types of faults.</a:t>
            </a:r>
          </a:p>
          <a:p>
            <a:endParaRPr lang="en-US" sz="1800" dirty="0"/>
          </a:p>
          <a:p>
            <a:r>
              <a:rPr lang="en-US" sz="1800" dirty="0"/>
              <a:t>When measurement data is provided to the model, it predicts the fault category and helps operators quickly identify the nature of the disturbance. This enables faster fault diagnosis, reduces system downtime, and improves the reliability of the power distribution network.</a:t>
            </a:r>
          </a:p>
          <a:p>
            <a:endParaRPr lang="en-US" sz="1800" dirty="0"/>
          </a:p>
          <a:p>
            <a:r>
              <a:rPr lang="en-US" sz="1800"/>
              <a:t>IBM watsonx.ai is used for model development, training, and prediction. The system can be integrated with a monitoring dashboard to display fault classifications and system status in real time.</a:t>
            </a:r>
          </a:p>
          <a:p>
            <a:endParaRPr lang="en-US" sz="1800" dirty="0"/>
          </a:p>
          <a:p>
            <a:r>
              <a:rPr lang="en-US" sz="1800"/>
              <a:t>Overall, the solution provides an intelligent and automated approach for fault detection and classification in power distribution systems.</a:t>
            </a:r>
          </a:p>
          <a:p>
            <a:pPr algn="ctr"/>
            <a:endParaRPr lang="en-US"/>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DF19-B163-2CA5-3786-8B2490EED087}"/>
              </a:ext>
            </a:extLst>
          </p:cNvPr>
          <p:cNvSpPr>
            <a:spLocks noGrp="1"/>
          </p:cNvSpPr>
          <p:nvPr>
            <p:ph type="title"/>
          </p:nvPr>
        </p:nvSpPr>
        <p:spPr/>
        <p:txBody>
          <a:bodyPr>
            <a:normAutofit/>
          </a:bodyPr>
          <a:lstStyle/>
          <a:p>
            <a:r>
              <a:rPr lang="en-US" sz="2000" b="1" dirty="0"/>
              <a:t>Component used</a:t>
            </a:r>
          </a:p>
        </p:txBody>
      </p:sp>
      <p:sp>
        <p:nvSpPr>
          <p:cNvPr id="3" name="Text Placeholder 2">
            <a:extLst>
              <a:ext uri="{FF2B5EF4-FFF2-40B4-BE49-F238E27FC236}">
                <a16:creationId xmlns:a16="http://schemas.microsoft.com/office/drawing/2014/main" id="{9D54BD73-7AE6-2576-550C-90A2B81AC492}"/>
              </a:ext>
            </a:extLst>
          </p:cNvPr>
          <p:cNvSpPr>
            <a:spLocks noGrp="1"/>
          </p:cNvSpPr>
          <p:nvPr>
            <p:ph type="body" idx="1"/>
          </p:nvPr>
        </p:nvSpPr>
        <p:spPr/>
        <p:txBody>
          <a:bodyPr>
            <a:normAutofit/>
          </a:bodyPr>
          <a:lstStyle/>
          <a:p>
            <a:r>
              <a:rPr lang="en-US" sz="1600" b="1"/>
              <a:t>Input Dataset</a:t>
            </a:r>
            <a:r>
              <a:rPr lang="en-US" sz="1600"/>
              <a:t> – Contains electrical measurement data such as voltage, current, temperature, power load, and fault location information.</a:t>
            </a:r>
            <a:endParaRPr lang="en-US" sz="1600" dirty="0"/>
          </a:p>
          <a:p>
            <a:r>
              <a:rPr lang="en-US" sz="1600" b="1" dirty="0"/>
              <a:t>IBM watsonx.ai </a:t>
            </a:r>
            <a:r>
              <a:rPr lang="en-US" sz="1600" b="1" dirty="0" err="1"/>
              <a:t>AutoAI</a:t>
            </a:r>
            <a:r>
              <a:rPr lang="en-US" sz="1600" dirty="0"/>
              <a:t> – Automatically analyzes the dataset, performs data preprocessing, selects suitable algorithms, and builds the prediction model.</a:t>
            </a:r>
          </a:p>
          <a:p>
            <a:r>
              <a:rPr lang="en-US" sz="1600" b="1" dirty="0"/>
              <a:t>Machine Learning Model</a:t>
            </a:r>
            <a:r>
              <a:rPr lang="en-US" sz="1600" dirty="0"/>
              <a:t> – Trained using the uploaded historical data to identify patterns associated with different fault conditions.</a:t>
            </a:r>
          </a:p>
          <a:p>
            <a:r>
              <a:rPr lang="en-US" sz="1600" b="1"/>
              <a:t>Prediction System</a:t>
            </a:r>
            <a:r>
              <a:rPr lang="en-US" sz="1600"/>
              <a:t> – Classifies system conditions and predicts the type of fault based on new input data.</a:t>
            </a:r>
            <a:endParaRPr lang="en-US" sz="1600" dirty="0"/>
          </a:p>
          <a:p>
            <a:r>
              <a:rPr lang="en-US" sz="1600" b="1"/>
              <a:t>Output Results</a:t>
            </a:r>
            <a:r>
              <a:rPr lang="en-US" sz="1600"/>
              <a:t> – Displays the predicted fault category and model confidence scores.</a:t>
            </a:r>
            <a:endParaRPr lang="en-US" sz="1600" dirty="0"/>
          </a:p>
          <a:p>
            <a:r>
              <a:rPr lang="en-US" sz="1600" b="1"/>
              <a:t>Model Evaluation Component</a:t>
            </a:r>
            <a:r>
              <a:rPr lang="en-US" sz="1600"/>
              <a:t> – Measures model performance using metrics such as accuracy.</a:t>
            </a:r>
          </a:p>
          <a:p>
            <a:endParaRPr lang="en-US" dirty="0"/>
          </a:p>
        </p:txBody>
      </p:sp>
    </p:spTree>
    <p:extLst>
      <p:ext uri="{BB962C8B-B14F-4D97-AF65-F5344CB8AC3E}">
        <p14:creationId xmlns:p14="http://schemas.microsoft.com/office/powerpoint/2010/main" val="64197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5BC53-1BA3-4888-9723-CF8AEA95C5A6}"/>
              </a:ext>
            </a:extLst>
          </p:cNvPr>
          <p:cNvSpPr>
            <a:spLocks noGrp="1"/>
          </p:cNvSpPr>
          <p:nvPr>
            <p:ph type="title"/>
          </p:nvPr>
        </p:nvSpPr>
        <p:spPr/>
        <p:txBody>
          <a:bodyPr>
            <a:normAutofit/>
          </a:bodyPr>
          <a:lstStyle/>
          <a:p>
            <a:r>
              <a:rPr lang="en-US" sz="2400"/>
              <a:t>Screenshot</a:t>
            </a:r>
          </a:p>
        </p:txBody>
      </p:sp>
      <p:sp>
        <p:nvSpPr>
          <p:cNvPr id="3" name="Text Placeholder 2">
            <a:extLst>
              <a:ext uri="{FF2B5EF4-FFF2-40B4-BE49-F238E27FC236}">
                <a16:creationId xmlns:a16="http://schemas.microsoft.com/office/drawing/2014/main" id="{7806BC72-3961-D41A-A951-5E22399C4E29}"/>
              </a:ext>
            </a:extLst>
          </p:cNvPr>
          <p:cNvSpPr>
            <a:spLocks noGrp="1"/>
          </p:cNvSpPr>
          <p:nvPr>
            <p:ph type="body" idx="1"/>
          </p:nvPr>
        </p:nvSpPr>
        <p:spPr>
          <a:xfrm>
            <a:off x="838200" y="1366338"/>
            <a:ext cx="10515600" cy="4810625"/>
          </a:xfrm>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21F36181-9FB6-4C6F-B135-C82F4BEF5132}"/>
              </a:ext>
            </a:extLst>
          </p:cNvPr>
          <p:cNvPicPr>
            <a:picLocks noChangeAspect="1"/>
          </p:cNvPicPr>
          <p:nvPr/>
        </p:nvPicPr>
        <p:blipFill>
          <a:blip r:embed="rId2"/>
          <a:stretch>
            <a:fillRect/>
          </a:stretch>
        </p:blipFill>
        <p:spPr>
          <a:xfrm>
            <a:off x="1075150" y="1361775"/>
            <a:ext cx="10521864" cy="4938203"/>
          </a:xfrm>
          <a:prstGeom prst="rect">
            <a:avLst/>
          </a:prstGeom>
        </p:spPr>
      </p:pic>
    </p:spTree>
    <p:extLst>
      <p:ext uri="{BB962C8B-B14F-4D97-AF65-F5344CB8AC3E}">
        <p14:creationId xmlns:p14="http://schemas.microsoft.com/office/powerpoint/2010/main" val="3488033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9E290-FDF7-E129-8BE8-1A1BD5D781BF}"/>
              </a:ext>
            </a:extLst>
          </p:cNvPr>
          <p:cNvSpPr>
            <a:spLocks noGrp="1"/>
          </p:cNvSpPr>
          <p:nvPr>
            <p:ph type="title"/>
          </p:nvPr>
        </p:nvSpPr>
        <p:spPr>
          <a:xfrm>
            <a:off x="838200" y="365125"/>
            <a:ext cx="10515600" cy="868363"/>
          </a:xfrm>
        </p:spPr>
        <p:txBody>
          <a:bodyPr/>
          <a:lstStyle/>
          <a:p>
            <a:r>
              <a:rPr lang="en-US"/>
              <a:t>Screenshot</a:t>
            </a:r>
          </a:p>
        </p:txBody>
      </p:sp>
      <p:sp>
        <p:nvSpPr>
          <p:cNvPr id="3" name="Text Placeholder 2">
            <a:extLst>
              <a:ext uri="{FF2B5EF4-FFF2-40B4-BE49-F238E27FC236}">
                <a16:creationId xmlns:a16="http://schemas.microsoft.com/office/drawing/2014/main" id="{C6B59697-B451-6C3D-6518-101AC3467428}"/>
              </a:ext>
            </a:extLst>
          </p:cNvPr>
          <p:cNvSpPr>
            <a:spLocks noGrp="1"/>
          </p:cNvSpPr>
          <p:nvPr>
            <p:ph type="body" idx="1"/>
          </p:nvPr>
        </p:nvSpPr>
        <p:spPr>
          <a:xfrm>
            <a:off x="838200" y="1237797"/>
            <a:ext cx="10515600" cy="4939166"/>
          </a:xfrm>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C4D8686F-9583-3DBC-D9B9-6CE05080B732}"/>
              </a:ext>
            </a:extLst>
          </p:cNvPr>
          <p:cNvPicPr>
            <a:picLocks noChangeAspect="1"/>
          </p:cNvPicPr>
          <p:nvPr/>
        </p:nvPicPr>
        <p:blipFill>
          <a:blip r:embed="rId2"/>
          <a:stretch>
            <a:fillRect/>
          </a:stretch>
        </p:blipFill>
        <p:spPr>
          <a:xfrm>
            <a:off x="659869" y="1240971"/>
            <a:ext cx="11264147" cy="5246915"/>
          </a:xfrm>
          <a:prstGeom prst="rect">
            <a:avLst/>
          </a:prstGeom>
        </p:spPr>
      </p:pic>
    </p:spTree>
    <p:extLst>
      <p:ext uri="{BB962C8B-B14F-4D97-AF65-F5344CB8AC3E}">
        <p14:creationId xmlns:p14="http://schemas.microsoft.com/office/powerpoint/2010/main" val="349454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5BA2-6156-1F4C-2B03-4C3279FC51AE}"/>
              </a:ext>
            </a:extLst>
          </p:cNvPr>
          <p:cNvSpPr>
            <a:spLocks noGrp="1"/>
          </p:cNvSpPr>
          <p:nvPr>
            <p:ph type="title"/>
          </p:nvPr>
        </p:nvSpPr>
        <p:spPr>
          <a:xfrm>
            <a:off x="838200" y="365125"/>
            <a:ext cx="10515600" cy="386111"/>
          </a:xfrm>
        </p:spPr>
        <p:txBody>
          <a:bodyPr>
            <a:normAutofit fontScale="90000"/>
          </a:bodyPr>
          <a:lstStyle/>
          <a:p>
            <a:r>
              <a:rPr lang="en-US" dirty="0" err="1"/>
              <a:t>Screensh</a:t>
            </a:r>
            <a:r>
              <a:rPr lang="en-US" dirty="0"/>
              <a:t>ot</a:t>
            </a:r>
          </a:p>
        </p:txBody>
      </p:sp>
      <p:sp>
        <p:nvSpPr>
          <p:cNvPr id="3" name="Text Placeholder 2">
            <a:extLst>
              <a:ext uri="{FF2B5EF4-FFF2-40B4-BE49-F238E27FC236}">
                <a16:creationId xmlns:a16="http://schemas.microsoft.com/office/drawing/2014/main" id="{4FC282B3-9DE4-31D6-3DA8-3175778FD297}"/>
              </a:ext>
            </a:extLst>
          </p:cNvPr>
          <p:cNvSpPr>
            <a:spLocks noGrp="1"/>
          </p:cNvSpPr>
          <p:nvPr>
            <p:ph type="body"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55960238-8E70-1288-8FE2-1E08A1443771}"/>
              </a:ext>
            </a:extLst>
          </p:cNvPr>
          <p:cNvPicPr>
            <a:picLocks noChangeAspect="1"/>
          </p:cNvPicPr>
          <p:nvPr/>
        </p:nvPicPr>
        <p:blipFill>
          <a:blip r:embed="rId2"/>
          <a:stretch>
            <a:fillRect/>
          </a:stretch>
        </p:blipFill>
        <p:spPr>
          <a:xfrm>
            <a:off x="720247" y="1015152"/>
            <a:ext cx="11471753" cy="5161723"/>
          </a:xfrm>
          <a:prstGeom prst="rect">
            <a:avLst/>
          </a:prstGeom>
        </p:spPr>
      </p:pic>
    </p:spTree>
    <p:extLst>
      <p:ext uri="{BB962C8B-B14F-4D97-AF65-F5344CB8AC3E}">
        <p14:creationId xmlns:p14="http://schemas.microsoft.com/office/powerpoint/2010/main" val="1807728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ECC81-EE8A-9AE8-DAAD-329CA3A9E8DF}"/>
              </a:ext>
            </a:extLst>
          </p:cNvPr>
          <p:cNvSpPr>
            <a:spLocks noGrp="1"/>
          </p:cNvSpPr>
          <p:nvPr>
            <p:ph type="title"/>
          </p:nvPr>
        </p:nvSpPr>
        <p:spPr>
          <a:xfrm>
            <a:off x="838200" y="365125"/>
            <a:ext cx="10515600" cy="868363"/>
          </a:xfrm>
        </p:spPr>
        <p:txBody>
          <a:bodyPr>
            <a:normAutofit/>
          </a:bodyPr>
          <a:lstStyle/>
          <a:p>
            <a:r>
              <a:rPr lang="en-US" sz="2000" b="1"/>
              <a:t>Watsonx.ai workflow</a:t>
            </a:r>
          </a:p>
        </p:txBody>
      </p:sp>
      <p:sp>
        <p:nvSpPr>
          <p:cNvPr id="3" name="Text Placeholder 2">
            <a:extLst>
              <a:ext uri="{FF2B5EF4-FFF2-40B4-BE49-F238E27FC236}">
                <a16:creationId xmlns:a16="http://schemas.microsoft.com/office/drawing/2014/main" id="{AAA0CE8F-43CB-1B6C-BA96-1B6E036CF61D}"/>
              </a:ext>
            </a:extLst>
          </p:cNvPr>
          <p:cNvSpPr>
            <a:spLocks noGrp="1"/>
          </p:cNvSpPr>
          <p:nvPr>
            <p:ph type="body" idx="1"/>
          </p:nvPr>
        </p:nvSpPr>
        <p:spPr>
          <a:xfrm>
            <a:off x="838200" y="1216026"/>
            <a:ext cx="10515600" cy="4960937"/>
          </a:xfrm>
        </p:spPr>
        <p:txBody>
          <a:bodyPr>
            <a:normAutofit/>
          </a:bodyPr>
          <a:lstStyle/>
          <a:p>
            <a:r>
              <a:rPr lang="en-US" sz="1600"/>
              <a:t>│ Data Sources │</a:t>
            </a:r>
          </a:p>
          <a:p>
            <a:r>
              <a:rPr lang="en-US" sz="1600"/>
              <a:t>│ CSV, DB, API │</a:t>
            </a:r>
          </a:p>
          <a:p>
            <a:r>
              <a:rPr lang="en-US" sz="1600"/>
              <a:t>└──────┬───────</a:t>
            </a:r>
            <a:r>
              <a:rPr lang="en-US" sz="1000"/>
              <a:t>┘</a:t>
            </a:r>
          </a:p>
          <a:p>
            <a:r>
              <a:rPr lang="en-US" sz="1000"/>
              <a:t>       │</a:t>
            </a:r>
          </a:p>
          <a:p>
            <a:r>
              <a:rPr lang="en-US" sz="1000"/>
              <a:t>       ▼</a:t>
            </a:r>
          </a:p>
          <a:p>
            <a:r>
              <a:rPr lang="en-US" sz="1000"/>
              <a:t>┌──────────────────┐</a:t>
            </a:r>
          </a:p>
          <a:p>
            <a:r>
              <a:rPr lang="en-US" sz="1000"/>
              <a:t>│ Data Preparation │-</a:t>
            </a:r>
          </a:p>
          <a:p>
            <a:r>
              <a:rPr lang="en-US" sz="1000"/>
              <a:t>│ Clean &amp; Transform│</a:t>
            </a:r>
          </a:p>
          <a:p>
            <a:r>
              <a:rPr lang="en-US" sz="1000"/>
              <a:t>└──────┬───────────┘</a:t>
            </a:r>
          </a:p>
          <a:p>
            <a:r>
              <a:rPr lang="en-US"/>
              <a:t>       </a:t>
            </a:r>
            <a:r>
              <a:rPr lang="en-US" dirty="0"/>
              <a:t>  </a:t>
            </a:r>
          </a:p>
        </p:txBody>
      </p:sp>
      <p:cxnSp>
        <p:nvCxnSpPr>
          <p:cNvPr id="4" name="Straight Arrow Connector 3">
            <a:extLst>
              <a:ext uri="{FF2B5EF4-FFF2-40B4-BE49-F238E27FC236}">
                <a16:creationId xmlns:a16="http://schemas.microsoft.com/office/drawing/2014/main" id="{9D262DB5-9E9A-CEC2-AABC-031196CCBC6F}"/>
              </a:ext>
            </a:extLst>
          </p:cNvPr>
          <p:cNvCxnSpPr/>
          <p:nvPr/>
        </p:nvCxnSpPr>
        <p:spPr>
          <a:xfrm>
            <a:off x="2695045" y="3245288"/>
            <a:ext cx="1121228" cy="21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25CCD21-84C3-0C75-5EB0-5FEF19CCFA36}"/>
              </a:ext>
            </a:extLst>
          </p:cNvPr>
          <p:cNvCxnSpPr/>
          <p:nvPr/>
        </p:nvCxnSpPr>
        <p:spPr>
          <a:xfrm flipV="1">
            <a:off x="3795326" y="1682464"/>
            <a:ext cx="13047" cy="15781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F3A3A2B-E168-BCE1-D071-8DE0D68EEC5F}"/>
              </a:ext>
            </a:extLst>
          </p:cNvPr>
          <p:cNvCxnSpPr/>
          <p:nvPr/>
        </p:nvCxnSpPr>
        <p:spPr>
          <a:xfrm>
            <a:off x="3821411" y="1669421"/>
            <a:ext cx="586906" cy="130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07ECCF9-A628-1521-6A2F-5193505E28AC}"/>
              </a:ext>
            </a:extLst>
          </p:cNvPr>
          <p:cNvSpPr txBox="1"/>
          <p:nvPr/>
        </p:nvSpPr>
        <p:spPr>
          <a:xfrm>
            <a:off x="4288971" y="1338943"/>
            <a:ext cx="2797629" cy="2483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a:r>
            <a:br>
              <a:rPr lang="en-US"/>
            </a:br>
            <a:r>
              <a:rPr lang="en-US"/>
              <a:t>│ Model Building │</a:t>
            </a:r>
            <a:br>
              <a:rPr lang="en-US"/>
            </a:br>
            <a:r>
              <a:rPr lang="en-US"/>
              <a:t>│ AutoML/Notebook │</a:t>
            </a:r>
            <a:br>
              <a:rPr lang="en-US"/>
            </a:br>
            <a:r>
              <a:rPr lang="en-US"/>
              <a:t>└──────┬───────────┘</a:t>
            </a:r>
            <a:br>
              <a:rPr lang="en-US"/>
            </a:br>
            <a:r>
              <a:rPr lang="en-US"/>
              <a:t>│</a:t>
            </a:r>
            <a:br>
              <a:rPr lang="en-US"/>
            </a:br>
            <a:r>
              <a:rPr lang="en-US"/>
              <a:t>▼</a:t>
            </a:r>
            <a:br>
              <a:rPr lang="en-US"/>
            </a:br>
            <a:r>
              <a:rPr lang="en-US"/>
              <a:t>┌──────────────────┐</a:t>
            </a:r>
            <a:br>
              <a:rPr lang="en-US"/>
            </a:br>
            <a:r>
              <a:rPr lang="en-US"/>
              <a:t>│ Model Evaluation │</a:t>
            </a:r>
            <a:br>
              <a:rPr lang="en-US"/>
            </a:br>
            <a:r>
              <a:rPr lang="en-US"/>
              <a:t>│ Accuracy &amp; XAI │</a:t>
            </a:r>
            <a:br>
              <a:rPr lang="en-US"/>
            </a:br>
            <a:r>
              <a:rPr lang="en-US"/>
              <a:t>└──────┬───────────┘</a:t>
            </a:r>
          </a:p>
          <a:p>
            <a:pPr algn="ctr"/>
            <a:endParaRPr lang="en-US"/>
          </a:p>
        </p:txBody>
      </p:sp>
      <p:cxnSp>
        <p:nvCxnSpPr>
          <p:cNvPr id="8" name="Straight Arrow Connector 7">
            <a:extLst>
              <a:ext uri="{FF2B5EF4-FFF2-40B4-BE49-F238E27FC236}">
                <a16:creationId xmlns:a16="http://schemas.microsoft.com/office/drawing/2014/main" id="{592B473C-CF50-BC95-33E5-C70951B357BD}"/>
              </a:ext>
            </a:extLst>
          </p:cNvPr>
          <p:cNvCxnSpPr/>
          <p:nvPr/>
        </p:nvCxnSpPr>
        <p:spPr>
          <a:xfrm>
            <a:off x="5323438" y="3425828"/>
            <a:ext cx="21669" cy="8584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8BA47DC-F02E-B210-22BE-013ED33B93BF}"/>
              </a:ext>
            </a:extLst>
          </p:cNvPr>
          <p:cNvCxnSpPr/>
          <p:nvPr/>
        </p:nvCxnSpPr>
        <p:spPr>
          <a:xfrm>
            <a:off x="5279794" y="4242874"/>
            <a:ext cx="1821820" cy="893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892A514-79CD-BA42-7BA7-18760B6A381C}"/>
              </a:ext>
            </a:extLst>
          </p:cNvPr>
          <p:cNvSpPr txBox="1"/>
          <p:nvPr/>
        </p:nvSpPr>
        <p:spPr>
          <a:xfrm>
            <a:off x="6945086" y="3929743"/>
            <a:ext cx="609600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a:r>
            <a:br>
              <a:rPr lang="en-US"/>
            </a:br>
            <a:r>
              <a:rPr lang="en-US"/>
              <a:t>│ Deployment │</a:t>
            </a:r>
            <a:br>
              <a:rPr lang="en-US"/>
            </a:br>
            <a:r>
              <a:rPr lang="en-US"/>
              <a:t>│ API Endpoint │</a:t>
            </a:r>
            <a:br>
              <a:rPr lang="en-US"/>
            </a:br>
            <a:r>
              <a:rPr lang="en-US"/>
              <a:t>└──────┬───────────┘</a:t>
            </a:r>
            <a:br>
              <a:rPr lang="en-US"/>
            </a:br>
            <a:r>
              <a:rPr lang="en-US"/>
              <a:t>│</a:t>
            </a:r>
            <a:br>
              <a:rPr lang="en-US"/>
            </a:br>
            <a:r>
              <a:rPr lang="en-US"/>
              <a:t>▼</a:t>
            </a:r>
            <a:br>
              <a:rPr lang="en-US"/>
            </a:br>
            <a:r>
              <a:rPr lang="en-US"/>
              <a:t>┌──────────────────┐</a:t>
            </a:r>
            <a:br>
              <a:rPr lang="en-US"/>
            </a:br>
            <a:r>
              <a:rPr lang="en-US"/>
              <a:t>│ Monitoring │</a:t>
            </a:r>
            <a:br>
              <a:rPr lang="en-US"/>
            </a:br>
            <a:r>
              <a:rPr lang="en-US"/>
              <a:t>│ Drift &amp; Metrics │</a:t>
            </a:r>
            <a:br>
              <a:rPr lang="en-US"/>
            </a:br>
            <a:r>
              <a:rPr lang="en-US"/>
              <a:t>└──────────────────┘</a:t>
            </a:r>
          </a:p>
          <a:p>
            <a:pPr algn="ctr"/>
            <a:endParaRPr lang="en-US"/>
          </a:p>
        </p:txBody>
      </p:sp>
    </p:spTree>
    <p:extLst>
      <p:ext uri="{BB962C8B-B14F-4D97-AF65-F5344CB8AC3E}">
        <p14:creationId xmlns:p14="http://schemas.microsoft.com/office/powerpoint/2010/main" val="2169409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descr="A screen shot of a computer&#10;&#10;AI-generated content may be incorrect.">
            <a:extLst>
              <a:ext uri="{FF2B5EF4-FFF2-40B4-BE49-F238E27FC236}">
                <a16:creationId xmlns:a16="http://schemas.microsoft.com/office/drawing/2014/main" id="{81A6E43A-017A-D89D-0049-C9D849B4A3BD}"/>
              </a:ext>
            </a:extLst>
          </p:cNvPr>
          <p:cNvPicPr>
            <a:picLocks noChangeAspect="1"/>
          </p:cNvPicPr>
          <p:nvPr/>
        </p:nvPicPr>
        <p:blipFill>
          <a:blip r:embed="rId3"/>
          <a:stretch>
            <a:fillRect/>
          </a:stretch>
        </p:blipFill>
        <p:spPr>
          <a:xfrm>
            <a:off x="288471" y="947057"/>
            <a:ext cx="10951029" cy="59109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616648"/>
          </a:xfrm>
          <a:prstGeom prst="rect">
            <a:avLst/>
          </a:prstGeom>
          <a:noFill/>
        </p:spPr>
        <p:txBody>
          <a:bodyPr wrap="square" lIns="91440" tIns="45720" rIns="91440" bIns="45720" rtlCol="0" anchor="t">
            <a:spAutoFit/>
          </a:bodyPr>
          <a:lstStyle/>
          <a:p>
            <a:endParaRPr lang="en-IN" sz="2000" dirty="0"/>
          </a:p>
          <a:p>
            <a:r>
              <a:rPr lang="en-IN" sz="2000"/>
              <a:t>• Uses AI-driven fault classification instead of traditional rule-based fault detection methods.</a:t>
            </a:r>
            <a:endParaRPr lang="en-IN" sz="2000" dirty="0"/>
          </a:p>
          <a:p>
            <a:endParaRPr lang="en-IN" sz="2000" dirty="0"/>
          </a:p>
          <a:p>
            <a:r>
              <a:rPr lang="en-IN" sz="2000"/>
              <a:t>• Automatically distinguishes between multiple fault types using electrical </a:t>
            </a:r>
            <a:r>
              <a:rPr lang="en-IN" sz="2000" dirty="0"/>
              <a:t>measurement data.</a:t>
            </a:r>
          </a:p>
          <a:p>
            <a:endParaRPr lang="en-IN" sz="2000" dirty="0"/>
          </a:p>
          <a:p>
            <a:r>
              <a:rPr lang="en-IN" sz="2000"/>
              <a:t>• Reduces fault identification time, enabling faster response and minimizing power outages.</a:t>
            </a:r>
            <a:endParaRPr lang="en-IN" sz="2000" dirty="0"/>
          </a:p>
          <a:p>
            <a:r>
              <a:rPr lang="en-IN" sz="2000" dirty="0"/>
              <a:t>• Built using IBM watsonx.ai </a:t>
            </a:r>
            <a:r>
              <a:rPr lang="en-IN" sz="2000" dirty="0" err="1"/>
              <a:t>AutoAI</a:t>
            </a:r>
            <a:r>
              <a:rPr lang="en-IN" sz="2000" dirty="0"/>
              <a:t>, allowing automated model selection, training, and optimization.</a:t>
            </a:r>
          </a:p>
          <a:p>
            <a:endParaRPr lang="en-IN" sz="2000" dirty="0"/>
          </a:p>
          <a:p>
            <a:r>
              <a:rPr lang="en-IN" sz="2000"/>
              <a:t>• Provides a scalable solution that can be adapted to different power distribution networks.</a:t>
            </a:r>
            <a:endParaRPr lang="en-IN" sz="2000" dirty="0"/>
          </a:p>
          <a:p>
            <a:endParaRPr lang="en-IN" sz="2000" dirty="0"/>
          </a:p>
          <a:p>
            <a:r>
              <a:rPr lang="en-IN" sz="2000"/>
              <a:t>• Supports data-driven decision-making for improving grid reliability and operational efficiency.</a:t>
            </a:r>
            <a:endParaRPr lang="en-IN" sz="2000" dirty="0"/>
          </a:p>
          <a:p>
            <a:endParaRPr lang="en-IN" sz="2000" dirty="0"/>
          </a:p>
          <a:p>
            <a:r>
              <a:rPr lang="en-IN" sz="2000"/>
              <a:t>• Can be extended for real-time smart grid monitoring and predictive maintenance applications.</a:t>
            </a:r>
            <a:endParaRPr lang="en-US" sz="200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2000" b="1" i="0" u="none" strike="noStrike" cap="none"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2000" b="1" dirty="0">
                <a:solidFill>
                  <a:srgbClr val="2B3541"/>
                </a:solidFill>
                <a:latin typeface="Times New Roman"/>
                <a:ea typeface="Times New Roman"/>
                <a:cs typeface="Times New Roman"/>
                <a:sym typeface="Times New Roman"/>
              </a:rPr>
              <a:t>Please test and Paste the working  </a:t>
            </a:r>
            <a:r>
              <a:rPr lang="en-US" sz="2000" b="1" dirty="0" err="1">
                <a:solidFill>
                  <a:srgbClr val="2B3541"/>
                </a:solidFill>
                <a:latin typeface="Times New Roman"/>
                <a:ea typeface="Times New Roman"/>
                <a:cs typeface="Times New Roman"/>
                <a:sym typeface="Times New Roman"/>
              </a:rPr>
              <a:t>Github</a:t>
            </a:r>
            <a:r>
              <a:rPr lang="en-US" sz="2000" b="1" dirty="0">
                <a:solidFill>
                  <a:srgbClr val="2B3541"/>
                </a:solidFill>
                <a:latin typeface="Times New Roman"/>
                <a:ea typeface="Times New Roman"/>
                <a:cs typeface="Times New Roman"/>
                <a:sym typeface="Times New Roman"/>
              </a:rPr>
              <a:t> URL</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ea typeface="Times New Roman"/>
                <a:sym typeface="Times New Roman"/>
              </a:rPr>
              <a:t>https://github.com/babita1234qwer/power-fault-detection.git</a:t>
            </a:r>
            <a:endParaRPr lang="en-US" sz="1850" dirty="0">
              <a:solidFill>
                <a:srgbClr val="2B3541"/>
              </a:solidFill>
              <a:ea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51467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US" sz="2000" dirty="0"/>
          </a:p>
          <a:p>
            <a:r>
              <a:rPr lang="en-US" sz="2000">
                <a:solidFill>
                  <a:srgbClr val="2B3541"/>
                </a:solidFill>
              </a:rPr>
              <a:t>• Integrate the model with real-time smart grid monitoring systems for instant fault detection.</a:t>
            </a:r>
            <a:endParaRPr lang="en-US" sz="2000" dirty="0"/>
          </a:p>
          <a:p>
            <a:r>
              <a:rPr lang="en-US" sz="2000">
                <a:solidFill>
                  <a:srgbClr val="2B3541"/>
                </a:solidFill>
              </a:rPr>
              <a:t>• Improve prediction accuracy by training the model on larger and more diverse power system datasets.</a:t>
            </a:r>
            <a:endParaRPr lang="en-US" sz="2000" dirty="0"/>
          </a:p>
          <a:p>
            <a:r>
              <a:rPr lang="en-US" sz="2000" dirty="0">
                <a:solidFill>
                  <a:srgbClr val="2B3541"/>
                </a:solidFill>
              </a:rPr>
              <a:t>• Extend the system to identify fault locations in addition to fault types.</a:t>
            </a:r>
            <a:endParaRPr lang="en-US" sz="2000" dirty="0"/>
          </a:p>
          <a:p>
            <a:r>
              <a:rPr lang="en-US" sz="2000">
                <a:solidFill>
                  <a:srgbClr val="2B3541"/>
                </a:solidFill>
              </a:rPr>
              <a:t>• Develop a real-time dashboard for visualization, monitoring, and alert generation.</a:t>
            </a:r>
            <a:endParaRPr lang="en-US" sz="2000" dirty="0"/>
          </a:p>
          <a:p>
            <a:r>
              <a:rPr lang="en-US" sz="2000">
                <a:solidFill>
                  <a:srgbClr val="2B3541"/>
                </a:solidFill>
              </a:rPr>
              <a:t>• Integrate IoT sensors and PMUs (Phasor Measurement Units) for continuous data collection.</a:t>
            </a:r>
            <a:endParaRPr lang="en-US" sz="2000" dirty="0"/>
          </a:p>
          <a:p>
            <a:r>
              <a:rPr lang="en-US" sz="2000">
                <a:solidFill>
                  <a:srgbClr val="2B3541"/>
                </a:solidFill>
              </a:rPr>
              <a:t>• Deploy the model on cloud platforms to enable scalable and remote monitoring.</a:t>
            </a:r>
            <a:endParaRPr lang="en-US" sz="2000" dirty="0"/>
          </a:p>
          <a:p>
            <a:r>
              <a:rPr lang="en-US" sz="2000">
                <a:solidFill>
                  <a:srgbClr val="2B3541"/>
                </a:solidFill>
              </a:rPr>
              <a:t>• Incorporate predictive maintenance capabilities to detect potential failures before faults occur.</a:t>
            </a:r>
            <a:endParaRPr lang="en-US" sz="2000" dirty="0"/>
          </a:p>
          <a:p>
            <a:endParaRPr lang="en-US" sz="1850" dirty="0">
              <a:solidFill>
                <a:srgbClr val="2B3541"/>
              </a:solidFill>
            </a:endParaRPr>
          </a:p>
          <a:p>
            <a:pPr marL="0" marR="0" lvl="0" indent="0" algn="l">
              <a:lnSpc>
                <a:spcPct val="162162"/>
              </a:lnSpc>
              <a:spcBef>
                <a:spcPts val="0"/>
              </a:spcBef>
              <a:spcAft>
                <a:spcPts val="0"/>
              </a:spcAft>
              <a:buSzPts val="1850"/>
              <a:buFont typeface="Times New Roman"/>
              <a:buNone/>
            </a:pPr>
            <a:endParaRPr lang="en-US" sz="1850" b="0" i="0" u="none" strike="noStrike" cap="none" dirty="0">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1423</Words>
  <Application>Microsoft Office PowerPoint</Application>
  <PresentationFormat>Widescreen</PresentationFormat>
  <Paragraphs>125</Paragraphs>
  <Slides>15</Slides>
  <Notes>9</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PowerPoint Presentation</vt:lpstr>
      <vt:lpstr>PowerPoint Presentation</vt:lpstr>
      <vt:lpstr>PowerPoint Presentation</vt:lpstr>
      <vt:lpstr>PowerPoint Presentation</vt:lpstr>
      <vt:lpstr>Component used</vt:lpstr>
      <vt:lpstr>Screenshot</vt:lpstr>
      <vt:lpstr>Screenshot</vt:lpstr>
      <vt:lpstr>Screenshot</vt:lpstr>
      <vt:lpstr>Watsonx.ai workflow</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Yogesh Raje</cp:lastModifiedBy>
  <cp:revision>256</cp:revision>
  <dcterms:created xsi:type="dcterms:W3CDTF">2025-07-08T05:06:56Z</dcterms:created>
  <dcterms:modified xsi:type="dcterms:W3CDTF">2026-06-04T22:25:27Z</dcterms:modified>
</cp:coreProperties>
</file>